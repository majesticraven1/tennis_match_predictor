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Baselines</c:v>
                </c:pt>
              </c:strCache>
            </c:strRef>
          </c:tx>
          <c:spPr>
            <a:solidFill>
              <a:srgbClr val="9AA9A0"/>
            </a:solidFill>
            <a:effectLst/>
          </c:spPr>
          <c:invertIfNegative val="0"/>
          <c:dLbls>
            <c:numFmt formatCode="0.0&quot;%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Higher rank</c:v>
                </c:pt>
                <c:pt idx="1">
                  <c:v>Higher Elo</c:v>
                </c:pt>
                <c:pt idx="2">
                  <c:v>Logistic reg.</c:v>
                </c:pt>
                <c:pt idx="3">
                  <c:v>Gradient boost.</c:v>
                </c:pt>
                <c:pt idx="4">
                  <c:v>Linear SVM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64.3</c:v>
                </c:pt>
                <c:pt idx="1">
                  <c:v>63.8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B5-489C-8F95-DE8CBD4D65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Models</c:v>
                </c:pt>
              </c:strCache>
            </c:strRef>
          </c:tx>
          <c:spPr>
            <a:solidFill>
              <a:srgbClr val="1B4D35"/>
            </a:solidFill>
            <a:effectLst/>
          </c:spPr>
          <c:invertIfNegative val="0"/>
          <c:dLbls>
            <c:numFmt formatCode="0.0&quot;%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Higher rank</c:v>
                </c:pt>
                <c:pt idx="1">
                  <c:v>Higher Elo</c:v>
                </c:pt>
                <c:pt idx="2">
                  <c:v>Logistic reg.</c:v>
                </c:pt>
                <c:pt idx="3">
                  <c:v>Gradient boost.</c:v>
                </c:pt>
                <c:pt idx="4">
                  <c:v>Linear SVM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65.8</c:v>
                </c:pt>
                <c:pt idx="3">
                  <c:v>65.599999999999994</c:v>
                </c:pt>
                <c:pt idx="4">
                  <c:v>65.7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B5-489C-8F95-DE8CBD4D658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3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7"/>
          <c:min val="60"/>
        </c:scaling>
        <c:delete val="0"/>
        <c:axPos val="l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A6B6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011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team. Replace the bracketed placeholders with the students' names and SRNs.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ranking baseline is the number to beat. In our 2025 test season it picks 64.3% of winners.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88,013 matches after cleaning. The paper's original dataset is no longer online, so we use a successor with the same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stages, each in its own file. The app reuses features.py, which avoids differences between training and live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follow the paper's feature groups. Elo is an addition of ours. Rank, points and height are kept as separate values per player, as in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model needs both outcomes to learn from. Each match becomes two rows, and at prediction time both rows are scored and averaged.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Scikit-learn pipelines keep preprocessing identical between training and prediction. Random forest was not completed on the real data in our test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Models beat both baselines. Differences between the three models are tiny. Log loss and Brier score show how good the probabilities are, not just the picks.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gap to the paper. The ranking baseline is also lower on this data, which points to the data source rather than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with Streamlit. The example is a real prediction from our trained logistic regression model on data through January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limits honestly: stale data and missing Challenger history are the biggest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three takeaways, then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852160" cy="5852160"/>
          </a:xfrm>
          <a:prstGeom prst="ellipse">
            <a:avLst/>
          </a:prstGeom>
          <a:solidFill>
            <a:srgbClr val="D9E021"/>
          </a:solidFill>
          <a:ln w="12700">
            <a:solidFill>
              <a:srgbClr val="D9E0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1737360"/>
            <a:ext cx="7132320" cy="7132320"/>
          </a:xfrm>
          <a:prstGeom prst="ellipse">
            <a:avLst/>
          </a:prstGeom>
          <a:solidFill>
            <a:srgbClr val="0E2A1E">
              <a:alpha val="0"/>
            </a:srgbClr>
          </a:solidFill>
          <a:ln w="25400">
            <a:solidFill>
              <a:srgbClr val="2F7A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Tennis Match Prediction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D9E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winner of ATP matches before the first serve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7589520" cy="1737360"/>
          </a:xfrm>
          <a:prstGeom prst="roundRect">
            <a:avLst>
              <a:gd name="adj" fmla="val 6316"/>
            </a:avLst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E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846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Mounik Manohar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349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SRN: PES1UG24AM168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4846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chemeClr val="bg1"/>
                </a:solidFill>
              </a:rPr>
              <a:t>Kishore V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4663440" y="5349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F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SRN: PES1UG24AM139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4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predict tennis matches?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731520" cy="73152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call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20574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styles, surfaces, form and fitness all interact, so even strong players lose often.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731520" cy="73152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918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35204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match starts, estimate each player's probability of winning using past data only.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4572000"/>
            <a:ext cx="731520" cy="73152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548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4572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1554480" y="49834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pick the higher-ranked player. A model is only useful if it beats this.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7772400" y="1554480"/>
            <a:ext cx="3840480" cy="4389120"/>
          </a:xfrm>
          <a:prstGeom prst="roundRect">
            <a:avLst>
              <a:gd name="adj" fmla="val 3571"/>
            </a:avLst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7772400" y="210312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D9E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88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0" y="38404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2025 ATP matches were won by the higher-ranked player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4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4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88,013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matches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74136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74136" y="16459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 to 2026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557016" y="2514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covered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99632" y="16459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4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82512" y="2514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per match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25128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25128" y="16459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4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208008" y="2514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surfaces: hard, clay, grass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548640" cy="54864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4904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80160" y="36118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3891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TML-Database: ATP main-tour results, one file per season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columns as the Sackmann files used in the paper (that repository has since been removed)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statistics: aces, double faults, points won, break points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309360" y="3611880"/>
            <a:ext cx="548640" cy="54864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74904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40880" y="36118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6309360" y="43891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walkovers and rows missing ids, surface or date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date and round so every match is seen in order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remaining gaps with training medians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4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project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E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clean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data.py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29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seasons, remove bad rows, sort by date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87168" y="3017520"/>
            <a:ext cx="329184" cy="0"/>
          </a:xfrm>
          <a:prstGeom prst="line">
            <a:avLst/>
          </a:prstGeom>
          <a:noFill/>
          <a:ln w="31750">
            <a:solidFill>
              <a:srgbClr val="1B4D3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34640" y="155448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737360"/>
            <a:ext cx="502920" cy="50292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17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E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423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features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063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features.py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429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each match using earlier matches only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73168" y="3017520"/>
            <a:ext cx="329184" cy="0"/>
          </a:xfrm>
          <a:prstGeom prst="line">
            <a:avLst/>
          </a:prstGeom>
          <a:noFill/>
          <a:ln w="31750">
            <a:solidFill>
              <a:srgbClr val="1B4D3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0640" y="155448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1737360"/>
            <a:ext cx="502920" cy="50292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E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2423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time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3063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3429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past seasons, test on 2025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59168" y="3017520"/>
            <a:ext cx="329184" cy="0"/>
          </a:xfrm>
          <a:prstGeom prst="line">
            <a:avLst/>
          </a:prstGeom>
          <a:noFill/>
          <a:ln w="31750">
            <a:solidFill>
              <a:srgbClr val="1B4D3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06640" y="155448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1737360"/>
            <a:ext cx="502920" cy="50292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E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2423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3063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3429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 against two baselines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345168" y="3017520"/>
            <a:ext cx="329184" cy="0"/>
          </a:xfrm>
          <a:prstGeom prst="line">
            <a:avLst/>
          </a:prstGeom>
          <a:noFill/>
          <a:ln w="31750">
            <a:solidFill>
              <a:srgbClr val="1B4D3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692640" y="155448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75520" y="1737360"/>
            <a:ext cx="502920" cy="50292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75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E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2423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9875520" y="3063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875520" y="3429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and command-line tool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feature code runs in training and in the app, so live predictions see matches exactly as the model saw them in training.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4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looks at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45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form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and losses over the last 5, 10, 15 and 25 matches, and the last 30 days.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34256" y="141732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2856" y="1645920"/>
            <a:ext cx="548640" cy="54864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17830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48656" y="1645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record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562856" y="2377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 hard, clay or grass, plus form on the current surface.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19872" y="141732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48472" y="1645920"/>
            <a:ext cx="548640" cy="54864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17830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34272" y="1645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348472" y="2377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between the two players, and results against common opponents.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374904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3977640"/>
            <a:ext cx="548640" cy="54864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1148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and profile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709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ranking points, seed, height, handedness and age.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334256" y="374904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62856" y="3977640"/>
            <a:ext cx="548640" cy="54864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411480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48656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statistics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4562856" y="4709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Aces, double faults, first and second serve points won, break points saved.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119872" y="374904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48472" y="3977640"/>
            <a:ext cx="548640" cy="54864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5632" y="411480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34272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ratings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8348472" y="4709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strength score, overall and per surface, updated after every match.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60 features per match; most are Player 1 minus Player 2.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4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testing, fair predictions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72593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look-ahead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659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uses only matches played before the one being predicted.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685800" cy="68580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328041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3108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time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35204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seasons before 2025 and test on 2025. No random shuffling.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4663440"/>
            <a:ext cx="685800" cy="68580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483489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4663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Mirrored rows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50749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match is stored from both players' views, so order never matters.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583680" y="155448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675120" y="1554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match: Player A beat Player B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583680" y="274320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675120" y="2743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as Player 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1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9235440" y="274320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326880" y="2743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as Player 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0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7772400" y="2304288"/>
            <a:ext cx="0" cy="411480"/>
          </a:xfrm>
          <a:prstGeom prst="line">
            <a:avLst/>
          </a:prstGeom>
          <a:noFill/>
          <a:ln w="31750">
            <a:solidFill>
              <a:srgbClr val="1B4D35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772400" y="3950208"/>
            <a:ext cx="0" cy="594360"/>
          </a:xfrm>
          <a:prstGeom prst="line">
            <a:avLst/>
          </a:prstGeom>
          <a:noFill/>
          <a:ln w="31750">
            <a:solidFill>
              <a:srgbClr val="1B4D35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10424160" y="2304288"/>
            <a:ext cx="0" cy="411480"/>
          </a:xfrm>
          <a:prstGeom prst="line">
            <a:avLst/>
          </a:prstGeom>
          <a:noFill/>
          <a:ln w="31750">
            <a:solidFill>
              <a:srgbClr val="1B4D35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10424160" y="3950208"/>
            <a:ext cx="0" cy="594360"/>
          </a:xfrm>
          <a:prstGeom prst="line">
            <a:avLst/>
          </a:prstGeom>
          <a:noFill/>
          <a:ln w="31750">
            <a:solidFill>
              <a:srgbClr val="1B4D35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6583680" y="457200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D9E021"/>
          </a:solidFill>
          <a:ln w="12700">
            <a:solidFill>
              <a:srgbClr val="D9E021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675120" y="45720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both rows and average: one probability that does not depend on player order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4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 compared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1089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main model. L2 penalty, strength tuned on the season before the test year.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572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its predictions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74136" y="146304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02736" y="1691640"/>
            <a:ext cx="594360" cy="59436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326" y="18402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02736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602736" y="31089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trees, entropy criterion, at least 10 samples per leaf.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602736" y="4572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effects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199632" y="146304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28232" y="1691640"/>
            <a:ext cx="594360" cy="59436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822" y="184023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28232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6428232" y="31089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4, learning rate 0.05, 300 iterations.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428232" y="4572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log loss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9025128" y="146304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253728" y="1691640"/>
            <a:ext cx="594360" cy="59436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2318" y="184023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53728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9253728" y="31089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kernel with calibrated probabilities, because kernel SVMs are too slow.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253728" y="4572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Margin-based view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is a pipeline: fill missing values with the median, scale the inputs (linear models), then classify.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4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2025 test season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68580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2,839 ATP matches of 2025. The axis starts at 60%.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863840" y="146304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554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+1.5 pts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194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over the ranking baseline in 2025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63840" y="301752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31089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66.3% vs 61.4%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3749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 ranking baseline on the paper's 2019 split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863840" y="457200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0" y="4663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0.616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5303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log loss, from gradient boosting (lower is better)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4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alone is a strong baseline at 63.8%. Our features add a small, steady gain.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matches gradient boosting, so feature quality matters more than model choice, as the paper concluded.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ceiling on this data is about 65 to 67%.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554480"/>
          <a:ext cx="566928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3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3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3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65.8% (2025)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3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66.3% (2019)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3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3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3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64.3% (2025)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3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61.4% (2019)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3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3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3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65.7% (2025)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3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3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Sackmann plus Challengers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3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TML, main tour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4754880"/>
            <a:ext cx="5669280" cy="1005840"/>
          </a:xfrm>
          <a:prstGeom prst="roundRect">
            <a:avLst>
              <a:gd name="adj" fmla="val 10909"/>
            </a:avLst>
          </a:prstGeom>
          <a:solidFill>
            <a:srgbClr val="D9E021"/>
          </a:solidFill>
          <a:ln w="12700">
            <a:solidFill>
              <a:srgbClr val="D9E02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47548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reproduce the paper's 71%. The data source differs and Challenger history is missing.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4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 app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583680" cy="4572000"/>
          </a:xfrm>
          <a:prstGeom prst="roundRect">
            <a:avLst>
              <a:gd name="adj" fmla="val 3000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60350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Alcaraz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B4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odds 1.71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Jannik Sinner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5A6B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odds 2.40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4251960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C9D6CE"/>
          </a:solidFill>
          <a:ln w="12700">
            <a:solidFill>
              <a:srgbClr val="C9D6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4251960"/>
            <a:ext cx="3200400" cy="256032"/>
          </a:xfrm>
          <a:prstGeom prst="roundRect">
            <a:avLst>
              <a:gd name="adj" fmla="val 50000"/>
            </a:avLst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61104" y="4251960"/>
            <a:ext cx="64008" cy="256032"/>
          </a:xfrm>
          <a:prstGeom prst="rect">
            <a:avLst/>
          </a:prstGeom>
          <a:solidFill>
            <a:srgbClr val="D9E021"/>
          </a:solidFill>
          <a:ln w="12700">
            <a:solidFill>
              <a:srgbClr val="D9E02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Clay, best of 5, logistic regression. Data through January 2026.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0" y="1600200"/>
            <a:ext cx="594360" cy="59436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110" y="1748790"/>
            <a:ext cx="297180" cy="2971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412480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players, a surface and a match format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589520" y="2743200"/>
            <a:ext cx="594360" cy="59436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8110" y="2891790"/>
            <a:ext cx="297180" cy="29718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412480" y="2743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 and fair odds for each player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589520" y="3886200"/>
            <a:ext cx="594360" cy="59436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8110" y="4034790"/>
            <a:ext cx="297180" cy="2971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412480" y="3886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Match-up table: rank, Elo, form, head-to-head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7589520" y="5029200"/>
            <a:ext cx="594360" cy="59436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8110" y="5177790"/>
            <a:ext cx="297180" cy="2971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412480" y="5029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 the estimate, for logistic regression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4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916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5176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stops in January 2026, so ranks and form are months old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Challenger matches for newer players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Injuries, weather and motivation are not in the data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ATP only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2240" y="1691640"/>
            <a:ext cx="594360" cy="594360"/>
          </a:xfrm>
          <a:prstGeom prst="ellipse">
            <a:avLst/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18402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9480" y="16916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65176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wrongly predicted matches to find missing features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fatigue and rest-day features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plots and comparison with betting odds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data and retrain regularly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9E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5544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Pre-match winner prediction beats the ranking baseline using only past results.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9E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788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features and a time-based test matter more than model complexity.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9E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40233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ready to use: training script, web app and command-line tool.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040880" y="1554480"/>
            <a:ext cx="4572000" cy="3383280"/>
          </a:xfrm>
          <a:prstGeom prst="roundRect">
            <a:avLst>
              <a:gd name="adj" fmla="val 3243"/>
            </a:avLst>
          </a:prstGeom>
          <a:solidFill>
            <a:srgbClr val="1B4D35"/>
          </a:solidFill>
          <a:ln w="12700">
            <a:solidFill>
              <a:srgbClr val="1B4D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0" y="1737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E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37744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train.py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streamlit run app.py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E0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1278</Words>
  <Application>Microsoft Office PowerPoint</Application>
  <PresentationFormat>Widescreen</PresentationFormat>
  <Paragraphs>191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Tennis Match Prediction using Machine Learning</dc:title>
  <dc:subject>PptxGenJS Presentation</dc:subject>
  <dc:creator>PptxGenJS</dc:creator>
  <cp:lastModifiedBy>Mounik Manohar</cp:lastModifiedBy>
  <cp:revision>2</cp:revision>
  <dcterms:created xsi:type="dcterms:W3CDTF">2026-10-07T03:21:15Z</dcterms:created>
  <dcterms:modified xsi:type="dcterms:W3CDTF">2026-10-07T05:38:57Z</dcterms:modified>
</cp:coreProperties>
</file>